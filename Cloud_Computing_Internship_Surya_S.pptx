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1005840"/>
            <a:ext cx="640080" cy="640080"/>
          </a:xfrm>
          <a:prstGeom prst="ellipse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828800"/>
            <a:ext cx="411480" cy="411480"/>
          </a:xfrm>
          <a:prstGeom prst="ellipse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2834640"/>
            <a:ext cx="502920" cy="502920"/>
          </a:xfrm>
          <a:prstGeom prst="ellipse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3840480"/>
            <a:ext cx="594360" cy="594360"/>
          </a:xfrm>
          <a:prstGeom prst="ellipse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0" y="4663440"/>
            <a:ext cx="347472" cy="347472"/>
          </a:xfrm>
          <a:prstGeom prst="ellipse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012680" y="1325880"/>
            <a:ext cx="978408" cy="731520"/>
          </a:xfrm>
          <a:prstGeom prst="line">
            <a:avLst/>
          </a:prstGeom>
          <a:ln w="25400">
            <a:solidFill>
              <a:srgbClr val="3A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332720" y="2194560"/>
            <a:ext cx="594360" cy="868680"/>
          </a:xfrm>
          <a:prstGeom prst="line">
            <a:avLst/>
          </a:prstGeom>
          <a:ln w="25400">
            <a:solidFill>
              <a:srgbClr val="3A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87000" y="3291840"/>
            <a:ext cx="914400" cy="731520"/>
          </a:xfrm>
          <a:prstGeom prst="line">
            <a:avLst/>
          </a:prstGeom>
          <a:ln w="25400">
            <a:solidFill>
              <a:srgbClr val="3A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4251960"/>
            <a:ext cx="1097280" cy="640080"/>
          </a:xfrm>
          <a:prstGeom prst="line">
            <a:avLst/>
          </a:prstGeom>
          <a:ln w="25400">
            <a:solidFill>
              <a:srgbClr val="3A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005840"/>
            <a:ext cx="7863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3AC4D2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45920"/>
            <a:ext cx="813816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  <a:p>
            <a:pPr algn="l"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72237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CDDBEF"/>
                </a:solidFill>
                <a:latin typeface="Aptos"/>
              </a:defRPr>
            </a:pPr>
            <a:r>
              <a:t>Concepts • Architecture • Services • Security • Applications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4572000"/>
            <a:ext cx="5925312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800600"/>
            <a:ext cx="777240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Presented by: Surya 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B.Tech Information Technology | 2023–2027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UCE – BIT Campus, Tiruchirappalli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Internship: Fantasy Solution | 01–30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AC4D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A clear path from fundamentals to practical use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7510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197510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4505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Cloud characteristics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82880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197510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4505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Service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82880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197510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245059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Deployment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94106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41655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7947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0752" y="394106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441655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Virtualization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7947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94106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41655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Major providers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79476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3941064"/>
            <a:ext cx="5029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900" b="1">
                <a:solidFill>
                  <a:srgbClr val="276EF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4416552"/>
            <a:ext cx="21945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Security &amp;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What Is Cloud Computing?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On-demand access to computing resources over a network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577840" cy="10515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01F3A"/>
                </a:solidFill>
                <a:latin typeface="Aptos"/>
              </a:defRPr>
            </a:pPr>
            <a:r>
              <a:t>Cloud computing provides servers, storage, databases, networking and software through the internet or a private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5486400" cy="2468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B3D"/>
                </a:solidFill>
                <a:latin typeface="Aptos"/>
              </a:defRPr>
            </a:pPr>
            <a:r>
              <a:t>•  Resources can be provisioned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1E2B3D"/>
                </a:solidFill>
                <a:latin typeface="Aptos"/>
              </a:defRPr>
            </a:pPr>
            <a:r>
              <a:t>•  Users pay for the services they consume.</a:t>
            </a:r>
          </a:p>
          <a:p>
            <a:pPr>
              <a:spcAft>
                <a:spcPts val="800"/>
              </a:spcAft>
              <a:defRPr sz="1700">
                <a:solidFill>
                  <a:srgbClr val="1E2B3D"/>
                </a:solidFill>
                <a:latin typeface="Aptos"/>
              </a:defRPr>
            </a:pPr>
            <a:r>
              <a:t>•  Providers manage much of the underlying infrastructure.</a:t>
            </a:r>
          </a:p>
          <a:p>
            <a:pPr>
              <a:spcAft>
                <a:spcPts val="800"/>
              </a:spcAft>
              <a:defRPr sz="1700">
                <a:solidFill>
                  <a:srgbClr val="1E2B3D"/>
                </a:solidFill>
                <a:latin typeface="Aptos"/>
              </a:defRPr>
            </a:pPr>
            <a:r>
              <a:t>•  Services can scale as demand changes.</a:t>
            </a:r>
          </a:p>
        </p:txBody>
      </p:sp>
      <p:sp>
        <p:nvSpPr>
          <p:cNvPr id="8" name="Oval 7"/>
          <p:cNvSpPr/>
          <p:nvPr/>
        </p:nvSpPr>
        <p:spPr>
          <a:xfrm>
            <a:off x="7584948" y="3049524"/>
            <a:ext cx="1069848" cy="772668"/>
          </a:xfrm>
          <a:prstGeom prst="ellipse">
            <a:avLst/>
          </a:prstGeom>
          <a:solidFill>
            <a:srgbClr val="DEEBFF"/>
          </a:solidFill>
          <a:ln w="17780"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79308" y="2574036"/>
            <a:ext cx="1188720" cy="1188720"/>
          </a:xfrm>
          <a:prstGeom prst="ellipse">
            <a:avLst/>
          </a:prstGeom>
          <a:solidFill>
            <a:srgbClr val="DEEBFF"/>
          </a:solidFill>
          <a:ln w="17780"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33104" y="2966313"/>
            <a:ext cx="950976" cy="772668"/>
          </a:xfrm>
          <a:prstGeom prst="ellipse">
            <a:avLst/>
          </a:prstGeom>
          <a:solidFill>
            <a:srgbClr val="DEEBFF"/>
          </a:solidFill>
          <a:ln w="17780"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39481" y="3322929"/>
            <a:ext cx="2020824" cy="534924"/>
          </a:xfrm>
          <a:prstGeom prst="roundRect">
            <a:avLst/>
          </a:prstGeom>
          <a:solidFill>
            <a:srgbClr val="DEEBFF"/>
          </a:solidFill>
          <a:ln w="17780"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617720"/>
            <a:ext cx="338328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User / Device  →  Cloud  → 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Why Cloud Computing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Business and technical value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164592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Lower upfront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Reduce the need to buy and maintain all hardware locally.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82296" cy="164592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860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Increase or reduce resources as workload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91640"/>
            <a:ext cx="82296" cy="164592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Availability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860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Use services across locations with suitable resilience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49039"/>
            <a:ext cx="82296" cy="164592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04487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Faster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434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Launch environments and applications more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49039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49039"/>
            <a:ext cx="82296" cy="164592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904487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434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Share files and work from different locations.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49039"/>
            <a:ext cx="338328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749039"/>
            <a:ext cx="82296" cy="164592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904487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Global reach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343400"/>
            <a:ext cx="303580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Deploy services closer to users in multiple regions.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Essential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Common cloud computing principles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10469880" cy="713232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64792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On-demand self-service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64922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Provision resources when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469880" cy="713232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697479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70048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Broad network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70048"/>
            <a:ext cx="64922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Reach services over standard networks.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93008"/>
            <a:ext cx="10469880" cy="713232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363016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602736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Resource pooling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02736"/>
            <a:ext cx="64922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Provider resources serve multiple customers securely.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425696"/>
            <a:ext cx="10469880" cy="713232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562856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35424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Rapid elasticity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35424"/>
            <a:ext cx="64922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Scale capacity up or down quickly.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358384"/>
            <a:ext cx="10469880" cy="713232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5495544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468112"/>
            <a:ext cx="28346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Measured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468112"/>
            <a:ext cx="649224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Monitor usage for reporting and billing.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Cloud Service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Different levels of control and management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52044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352044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IaaS —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31720"/>
            <a:ext cx="3172968" cy="2816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Virtual machines, networks and storage.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Customer manages OS, apps and data.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Example: Compute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352044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PaaS —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31720"/>
            <a:ext cx="3172968" cy="2816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Managed runtime and developer platform.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Customer focuses on code and data.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Example: App Engine.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352044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52044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729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SaaS —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331720"/>
            <a:ext cx="3172968" cy="2816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Ready-to-use applications online.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Provider manages the application stack.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Example: Google Workspace.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More customer control  ←  IaaS  |  PaaS  |  SaaS  →  More provider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Cloud Deployment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Choose based on control, cost, compliance and workload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164592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92807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Public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4727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Shared provider infrastructure; logical isolation between customers.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07492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82296" cy="164592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92807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Private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727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Dedicated environment for one organization.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94760"/>
            <a:ext cx="507492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794760"/>
            <a:ext cx="82296" cy="164592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0208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Hybrid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389120"/>
            <a:ext cx="4727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Connects private infrastructure with public cloud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5074920" cy="16459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82296" cy="164592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3950208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Community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4389120"/>
            <a:ext cx="4727448" cy="9418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Infrastructure shared by organizations with common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Basic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A simplified view of how users reach cloud-hosted applications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68880"/>
            <a:ext cx="186537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79776"/>
            <a:ext cx="1865376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Laptop • 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3774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2468880"/>
            <a:ext cx="186537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779776"/>
            <a:ext cx="1865376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Internet / VPN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DAF7F6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2468880"/>
            <a:ext cx="186537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Cloud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779776"/>
            <a:ext cx="1865376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Compute •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37744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2468880"/>
            <a:ext cx="213969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779776"/>
            <a:ext cx="2139696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DB • Object storage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926080"/>
            <a:ext cx="73152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2926080"/>
            <a:ext cx="73152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2926080"/>
            <a:ext cx="73152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251960"/>
            <a:ext cx="1005840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Typical request flow: a client sends a request → the network carries it → cloud services process it → data is read or stored securely.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86868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F7087"/>
                </a:solidFill>
                <a:latin typeface="Aptos"/>
              </a:defRPr>
            </a:pPr>
            <a:r>
              <a:t>Monitoring • Identity and access • Encryption •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Virtualization and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Efficiently run multiple workloads on shared infrastructure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338328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82296" cy="338328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92807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Virtual Machines (VMs)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4727448" cy="2679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Each VM runs a guest operating system.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A hypervisor allocates hardware resources.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Useful for isolation and legacy applications.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074920" cy="338328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82296" cy="338328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92807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Containers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31720"/>
            <a:ext cx="4727448" cy="26791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Package an app with its dependencies.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Share the host OS kernel.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Lightweight and useful for microservices.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577840"/>
            <a:ext cx="10058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Both approaches improve resource utilization; the right choice depends on isolation and operational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Cloud Storage and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Select the service that matches the data and access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82495"/>
            <a:ext cx="2468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Object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82495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Images, backups, documents and data lakes.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41448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551176"/>
            <a:ext cx="2468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Block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5117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Low-latency disks attached to virtual machines.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10128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19856"/>
            <a:ext cx="2468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File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1985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Shared folders and file-based applications.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8807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88536"/>
            <a:ext cx="2468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Relational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8853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Structured tables, SQL and transactions.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47488"/>
            <a:ext cx="10515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157216"/>
            <a:ext cx="246888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NoSQL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15721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Flexible schemas and high-scale access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Major Cloud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Examples of widely used cloud platforms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82296" cy="242316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075688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14600"/>
            <a:ext cx="3081528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BigQuery, Compute Engine, Cloud Storage, Vertex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92024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920240"/>
            <a:ext cx="82296" cy="242316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075688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Amazon Web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514600"/>
            <a:ext cx="3081528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EC2, S3, RDS, Lambda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82296" cy="242316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075688"/>
            <a:ext cx="308152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Microsoft Azure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514600"/>
            <a:ext cx="3081528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Virtual Machines, Blob Storage, Azure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1005840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01F3A"/>
                </a:solidFill>
                <a:latin typeface="Aptos"/>
              </a:defRPr>
            </a:pPr>
            <a:r>
              <a:t>Provider selection should consider required services, pricing, region availability, security, skills and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Cloud Security and Shared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Security is a joint effort between provider and customer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4747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82296" cy="347472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92807"/>
            <a:ext cx="47731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Cloud provider typically manages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773168" cy="2770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Physical data centers and hardware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Core networking and service infrastructure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Platform maintenance for managed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20640" cy="347472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82296" cy="347472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92807"/>
            <a:ext cx="477316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Customer typically manages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773168" cy="27706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User identities and access permissions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Data classification and secure configuration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• Application security and backups as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01F3A"/>
                </a:solidFill>
                <a:latin typeface="Aptos"/>
              </a:defRPr>
            </a:pPr>
            <a:r>
              <a:t>Good practice: least privilege, MFA, encryption, logging, patching and tested recovery plans.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Cloud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Turn raw data into useful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286000"/>
            <a:ext cx="17739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596896"/>
            <a:ext cx="1773936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Apps, files, sensors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788920"/>
            <a:ext cx="347472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39" y="21945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2286000"/>
            <a:ext cx="17739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1" y="2596896"/>
            <a:ext cx="1773936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Batch or streaming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79" y="2788920"/>
            <a:ext cx="347473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59" y="21945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DAF7F6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286000"/>
            <a:ext cx="17739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596896"/>
            <a:ext cx="1773936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Lake / warehouse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2788920"/>
            <a:ext cx="347471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98079" y="21945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DEEB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286000"/>
            <a:ext cx="17739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596896"/>
            <a:ext cx="1773936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Transform and query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18319" y="2788920"/>
            <a:ext cx="347473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2194560"/>
            <a:ext cx="19202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2286000"/>
            <a:ext cx="17739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2952" y="2596896"/>
            <a:ext cx="1773936" cy="7498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Reports and dashboards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102412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Example: an online store analyzes orders, inventory and customer activity to forecast demand and improve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5780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5F7087"/>
                </a:solidFill>
                <a:latin typeface="Aptos"/>
              </a:defRPr>
            </a:pPr>
            <a:r>
              <a:t>Data quality • Governance • Access control • Cost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Applications of Cloud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Where cloud services are used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160020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Learning platforms and virtual classrooms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91640"/>
            <a:ext cx="82296" cy="160020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8600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Secure systems for records and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9164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691640"/>
            <a:ext cx="82296" cy="160020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84708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Banking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28600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Fraud detection and scalable digital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03320"/>
            <a:ext cx="82296" cy="1600200"/>
          </a:xfrm>
          <a:prstGeom prst="rect">
            <a:avLst/>
          </a:prstGeom>
          <a:solidFill>
            <a:srgbClr val="276EF1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5876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9768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E-commerce, inventory and recommendations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033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03320"/>
            <a:ext cx="82296" cy="160020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85876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29768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Streaming, content delivery and rendering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033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703320"/>
            <a:ext cx="82296" cy="160020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858768"/>
            <a:ext cx="303580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Software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297680"/>
            <a:ext cx="3035808" cy="896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Development, testing and application hosting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Benefits and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A balanced view of cloud adoption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5074920" cy="3886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" cy="388620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47088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86000"/>
            <a:ext cx="4727448" cy="3182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Elastic capacity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Faster deployment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Managed services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Global access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Potentially lower upfront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074920" cy="3886200"/>
          </a:xfrm>
          <a:prstGeom prst="roundRect">
            <a:avLst>
              <a:gd name="adj" fmla="val 12000"/>
            </a:avLst>
          </a:prstGeom>
          <a:solidFill>
            <a:srgbClr val="EFF4FA"/>
          </a:solidFill>
          <a:ln>
            <a:solidFill>
              <a:srgbClr val="EFF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82296" cy="3886200"/>
          </a:xfrm>
          <a:prstGeom prst="rect">
            <a:avLst/>
          </a:prstGeom>
          <a:solidFill>
            <a:srgbClr val="FFBE48"/>
          </a:solidFill>
          <a:ln>
            <a:solidFill>
              <a:srgbClr val="FF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47088"/>
            <a:ext cx="4727448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101F3A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86000"/>
            <a:ext cx="4727448" cy="31821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Cost control and unexpected usage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Vendor lock-in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Compliance requirements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Network dependency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1E2B3D"/>
                </a:solidFill>
                <a:latin typeface="Aptos"/>
              </a:defRPr>
            </a:pPr>
            <a:r>
              <a:t>• Misconfiguration risks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Cost Management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Cloud is flexible, but usage must be monitored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743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EF1"/>
                </a:solidFill>
                <a:latin typeface="Aptos"/>
              </a:defRPr>
            </a:pPr>
            <a:r>
              <a:t>Right-size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71323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Match CPU, memory and storage to actual demand.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130552"/>
            <a:ext cx="10058400" cy="0"/>
          </a:xfrm>
          <a:prstGeom prst="line">
            <a:avLst/>
          </a:prstGeom>
          <a:ln w="1016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2450591"/>
            <a:ext cx="2743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EF1"/>
                </a:solidFill>
                <a:latin typeface="Aptos"/>
              </a:defRPr>
            </a:pPr>
            <a:r>
              <a:t>Set budgets and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50591"/>
            <a:ext cx="71323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Track spending and detect unexpected changes.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3026663"/>
            <a:ext cx="10058400" cy="0"/>
          </a:xfrm>
          <a:prstGeom prst="line">
            <a:avLst/>
          </a:prstGeom>
          <a:ln w="1016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346704"/>
            <a:ext cx="2743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EF1"/>
                </a:solidFill>
                <a:latin typeface="Aptos"/>
              </a:defRPr>
            </a:pPr>
            <a:r>
              <a:t>Shut down idle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46704"/>
            <a:ext cx="71323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Schedule non-production resources when not needed.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922776"/>
            <a:ext cx="10058400" cy="0"/>
          </a:xfrm>
          <a:prstGeom prst="line">
            <a:avLst/>
          </a:prstGeom>
          <a:ln w="1016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242816"/>
            <a:ext cx="2743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EF1"/>
                </a:solidFill>
                <a:latin typeface="Aptos"/>
              </a:defRPr>
            </a:pPr>
            <a:r>
              <a:t>Choose storage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42816"/>
            <a:ext cx="71323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Use suitable access and retention classes.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818888"/>
            <a:ext cx="10058400" cy="0"/>
          </a:xfrm>
          <a:prstGeom prst="line">
            <a:avLst/>
          </a:prstGeom>
          <a:ln w="10160">
            <a:solidFill>
              <a:srgbClr val="DCE2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138928"/>
            <a:ext cx="2743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76EF1"/>
                </a:solidFill>
                <a:latin typeface="Aptos"/>
              </a:defRPr>
            </a:pPr>
            <a:r>
              <a:t>Review regularly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38928"/>
            <a:ext cx="71323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1E2B3D"/>
                </a:solidFill>
                <a:latin typeface="Aptos"/>
              </a:defRPr>
            </a:pPr>
            <a:r>
              <a:t>Use tags, usage reports and team ownership.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Practical Example: Student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A simple deployment flow for an online student portal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31720"/>
            <a:ext cx="15453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42616"/>
            <a:ext cx="1545336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24028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331720"/>
            <a:ext cx="15453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Web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642616"/>
            <a:ext cx="1545336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Hosted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24028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2331720"/>
            <a:ext cx="15453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642616"/>
            <a:ext cx="1545336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Business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24028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2331720"/>
            <a:ext cx="15453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642616"/>
            <a:ext cx="1545336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Student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240280"/>
            <a:ext cx="16916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2952" y="2331720"/>
            <a:ext cx="1545336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01F3A"/>
                </a:solidFill>
                <a:latin typeface="Aptos"/>
              </a:defRPr>
            </a:pPr>
            <a: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2642616"/>
            <a:ext cx="1545336" cy="7040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5F7087"/>
                </a:solidFill>
                <a:latin typeface="Aptos"/>
              </a:defRPr>
            </a:pPr>
            <a:r>
              <a:t>Logs / alerts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816352"/>
            <a:ext cx="59436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63440" y="2816352"/>
            <a:ext cx="59436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2816352"/>
            <a:ext cx="59436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2816352"/>
            <a:ext cx="59436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5840" y="4160520"/>
            <a:ext cx="9966960" cy="1508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•  The application runs on managed or virtual compute.</a:t>
            </a:r>
          </a:p>
          <a:p>
            <a:pPr>
              <a:spcAft>
                <a:spcPts val="8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•  The database stores records with access controls and backups.</a:t>
            </a:r>
          </a:p>
          <a:p>
            <a:pPr>
              <a:spcAft>
                <a:spcPts val="8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•  Monitoring helps detect failures and performance issues.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01F3A"/>
                </a:solidFill>
                <a:latin typeface="Aptos"/>
              </a:defRPr>
            </a:pPr>
            <a:r>
              <a:t>Internship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F7087"/>
                </a:solidFill>
                <a:latin typeface="Aptos"/>
              </a:defRPr>
            </a:pPr>
            <a:r>
              <a:t>Suggested learning outcomes to align with your actual 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45368" cy="0"/>
          </a:xfrm>
          <a:prstGeom prst="line">
            <a:avLst/>
          </a:prstGeom>
          <a:ln w="1778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5F7087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424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82495"/>
            <a:ext cx="2377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682495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Understand cloud models, architecture and terminology.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68880"/>
            <a:ext cx="10424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96896"/>
            <a:ext cx="2377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Practical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59689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Explore compute, storage, networking and deployment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10424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11296"/>
            <a:ext cx="2377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Security mindset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51129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Recognize IAM, least privilege, encryption and monitoring.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97680"/>
            <a:ext cx="10424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25696"/>
            <a:ext cx="2377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42569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Compare service choices based on workload needs.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4241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0096"/>
            <a:ext cx="237744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76EF1"/>
                </a:solidFill>
                <a:latin typeface="Aptos"/>
              </a:defRPr>
            </a:pPr>
            <a:r>
              <a:t>Professional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340096"/>
            <a:ext cx="72237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1E2B3D"/>
                </a:solidFill>
                <a:latin typeface="Aptos"/>
              </a:defRPr>
            </a:pPr>
            <a:r>
              <a:t>Document tasks, communicate findings and present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22960" y="1325880"/>
            <a:ext cx="10332720" cy="0"/>
          </a:xfrm>
          <a:prstGeom prst="line">
            <a:avLst/>
          </a:prstGeom>
          <a:ln w="25400">
            <a:solidFill>
              <a:srgbClr val="3AC4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783080"/>
            <a:ext cx="7498079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Cloud computing delivers flexible computing resources on demand.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IaaS, PaaS and SaaS provide different levels of control.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Security, governance and cost monitoring are essential.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Cloud platforms support modern applications and data analytics.</a:t>
            </a:r>
          </a:p>
        </p:txBody>
      </p:sp>
      <p:sp>
        <p:nvSpPr>
          <p:cNvPr id="5" name="Oval 4"/>
          <p:cNvSpPr/>
          <p:nvPr/>
        </p:nvSpPr>
        <p:spPr>
          <a:xfrm>
            <a:off x="8746236" y="3150108"/>
            <a:ext cx="905256" cy="653796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49156" y="2747772"/>
            <a:ext cx="1005840" cy="1005840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02368" y="3079699"/>
            <a:ext cx="804672" cy="653796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76995" y="3381451"/>
            <a:ext cx="1709928" cy="452628"/>
          </a:xfrm>
          <a:prstGeom prst="roundRect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98755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3AC4D2"/>
                </a:solidFill>
                <a:latin typeface="Aptos"/>
              </a:defRPr>
            </a:pPr>
            <a:r>
              <a:t>Key takeaway: choose the right service, secure it well and monitor it continuously.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AC4D2"/>
          </a:solidFill>
          <a:ln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731520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0"/>
            <a:ext cx="72237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3AC4D2"/>
                </a:solidFill>
                <a:latin typeface="Aptos"/>
              </a:defRPr>
            </a:pPr>
            <a:r>
              <a:t>Questions &amp; 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51560" y="3337560"/>
            <a:ext cx="5074920" cy="0"/>
          </a:xfrm>
          <a:prstGeom prst="line">
            <a:avLst/>
          </a:prstGeom>
          <a:ln w="25400">
            <a:solidFill>
              <a:srgbClr val="276E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" y="3657600"/>
            <a:ext cx="7863840" cy="11430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Surya 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B.Tech Information Technology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UCE – BIT Campus, Tiruchirappalli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Fantasy Solution | June 2026</a:t>
            </a:r>
          </a:p>
        </p:txBody>
      </p:sp>
      <p:sp>
        <p:nvSpPr>
          <p:cNvPr id="7" name="Oval 6"/>
          <p:cNvSpPr/>
          <p:nvPr/>
        </p:nvSpPr>
        <p:spPr>
          <a:xfrm>
            <a:off x="8485632" y="2871216"/>
            <a:ext cx="987552" cy="713232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34272" y="2432304"/>
            <a:ext cx="1097280" cy="1097280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37776" y="2794406"/>
            <a:ext cx="877824" cy="713232"/>
          </a:xfrm>
          <a:prstGeom prst="ellipse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28278" y="3123590"/>
            <a:ext cx="1865376" cy="493776"/>
          </a:xfrm>
          <a:prstGeom prst="roundRect">
            <a:avLst/>
          </a:prstGeom>
          <a:solidFill>
            <a:srgbClr val="214069"/>
          </a:solidFill>
          <a:ln w="17780">
            <a:solidFill>
              <a:srgbClr val="3AC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AC4D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